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6" r:id="rId2"/>
    <p:sldId id="257" r:id="rId3"/>
    <p:sldId id="264" r:id="rId4"/>
    <p:sldId id="261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82D3E5-308E-ADC8-322B-ADBF5C5FBC93}" v="805" dt="2025-11-16T17:55:12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742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177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92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109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180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595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061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01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64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65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380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2704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142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286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78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130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616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481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015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5DD21E-9907-4798-8CAC-2157A2513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Итоговая работа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3373FA-538F-4B64-93A7-423F5B604C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Power BI</a:t>
            </a:r>
          </a:p>
          <a:p>
            <a:r>
              <a:rPr lang="en-US" dirty="0" err="1"/>
              <a:t>Конторин</a:t>
            </a:r>
            <a:r>
              <a:rPr lang="en-US" dirty="0"/>
              <a:t> </a:t>
            </a:r>
            <a:r>
              <a:rPr lang="en-US" dirty="0" err="1"/>
              <a:t>илья</a:t>
            </a:r>
            <a:r>
              <a:rPr lang="en-US" dirty="0"/>
              <a:t> </a:t>
            </a:r>
            <a:r>
              <a:rPr lang="en-US" dirty="0" err="1"/>
              <a:t>сергеевич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5319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EEA3F-32F4-4819-AFE0-AAD5F853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9B9054-CCAC-4848-B4BA-EE01DCD44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1976" y="3543300"/>
            <a:ext cx="11068050" cy="2476500"/>
          </a:xfrm>
        </p:spPr>
        <p:txBody>
          <a:bodyPr/>
          <a:lstStyle/>
          <a:p>
            <a:r>
              <a:rPr lang="ru-RU" dirty="0"/>
              <a:t>Заказчик - рекламное агентство, которое реализует </a:t>
            </a:r>
            <a:r>
              <a:rPr lang="ru-RU" err="1"/>
              <a:t>digital</a:t>
            </a:r>
            <a:r>
              <a:rPr lang="ru-RU" dirty="0"/>
              <a:t>-проекты. Менеджмент компании хочет понять, как обстоят дела с продажами услуг компании, что бы принять решение о приоритетах на следующий квартал.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Владелец агентства предоставил выгрузку из базы данных о заказах и выполненных проектах  за несколько лет.  </a:t>
            </a:r>
          </a:p>
          <a:p>
            <a:r>
              <a:rPr lang="ru-RU" dirty="0"/>
              <a:t>Итог - были проанализированы данные и подготовлен отчет. </a:t>
            </a:r>
          </a:p>
        </p:txBody>
      </p:sp>
    </p:spTree>
    <p:extLst>
      <p:ext uri="{BB962C8B-B14F-4D97-AF65-F5344CB8AC3E}">
        <p14:creationId xmlns:p14="http://schemas.microsoft.com/office/powerpoint/2010/main" val="3451542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56BBA8-BA0F-4994-9768-F53223331F46}"/>
              </a:ext>
            </a:extLst>
          </p:cNvPr>
          <p:cNvSpPr txBox="1"/>
          <p:nvPr/>
        </p:nvSpPr>
        <p:spPr>
          <a:xfrm>
            <a:off x="400050" y="123825"/>
            <a:ext cx="778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Модель данных</a:t>
            </a:r>
          </a:p>
        </p:txBody>
      </p:sp>
      <p:pic>
        <p:nvPicPr>
          <p:cNvPr id="5" name="Рисунок 4" descr="Изображение выглядит как текст, снимок экрана, Графическое программное обеспечение, 3D-модел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E6AD79-85B0-C5F1-7A14-33159A0F8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720" y="604354"/>
            <a:ext cx="7268128" cy="594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49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5ED1F-C976-48C2-90D3-476346049FAD}"/>
              </a:ext>
            </a:extLst>
          </p:cNvPr>
          <p:cNvSpPr txBox="1"/>
          <p:nvPr/>
        </p:nvSpPr>
        <p:spPr>
          <a:xfrm>
            <a:off x="385" y="1238595"/>
            <a:ext cx="5165921" cy="24776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ДоляСоцРесурс</a:t>
            </a:r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 = </a:t>
            </a:r>
            <a:endParaRPr lang="ru-RU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var</a:t>
            </a:r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 SocRes1 = SUM('Заказы'[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СуммаЗаказа</a:t>
            </a:r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])-SUM('Таргет'[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ТаргетРасходы</a:t>
            </a:r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])</a:t>
            </a:r>
            <a:endParaRPr lang="ru-RU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var</a:t>
            </a:r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Profit</a:t>
            </a:r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 = SUMX(ALL('Заказы'),'Заказы'[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СуммаЗаказа</a:t>
            </a:r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]) - SUMX(ALL('Таргет'),'Таргет'[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ТаргетРасходы</a:t>
            </a:r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])</a:t>
            </a:r>
            <a:endParaRPr lang="ru-RU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RETURN</a:t>
            </a:r>
            <a:endParaRPr lang="ru-RU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SocRes1/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Profit</a:t>
            </a:r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</a:rPr>
              <a:t> </a:t>
            </a:r>
            <a:endParaRPr lang="ru-RU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endParaRPr lang="ru-RU" sz="1100" dirty="0">
              <a:solidFill>
                <a:srgbClr val="000000"/>
              </a:solidFill>
              <a:highlight>
                <a:srgbClr val="C0C0C0"/>
              </a:highlight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B475A-B44B-47CD-B225-F9C16659FD74}"/>
              </a:ext>
            </a:extLst>
          </p:cNvPr>
          <p:cNvSpPr txBox="1"/>
          <p:nvPr/>
        </p:nvSpPr>
        <p:spPr>
          <a:xfrm>
            <a:off x="185350" y="437719"/>
            <a:ext cx="92487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dirty="0"/>
              <a:t>1 мера - доля прибыли по каждому социальному ресурсу. </a:t>
            </a:r>
          </a:p>
        </p:txBody>
      </p:sp>
      <p:pic>
        <p:nvPicPr>
          <p:cNvPr id="5" name="Рисунок 4" descr="Изображение выглядит как снимок экрана, текст, диаграмм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7D1E6D-98D8-97CB-4EF9-A1B546FCC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424" y="2472639"/>
            <a:ext cx="320040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6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5ED1F-C976-48C2-90D3-476346049FAD}"/>
              </a:ext>
            </a:extLst>
          </p:cNvPr>
          <p:cNvSpPr txBox="1"/>
          <p:nvPr/>
        </p:nvSpPr>
        <p:spPr>
          <a:xfrm>
            <a:off x="385" y="1238595"/>
            <a:ext cx="5165921" cy="24776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TOP3 =</a:t>
            </a:r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 </a:t>
            </a:r>
            <a:r>
              <a:rPr lang="ru-RU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CONCATENATEX(TOPN(3,SUMMARIZE(FILTER('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Заказы','Заказы</a:t>
            </a:r>
            <a:r>
              <a:rPr lang="ru-RU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'[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СтатусЗаказа</a:t>
            </a:r>
            <a:r>
              <a:rPr lang="ru-RU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]="Оплачен"),'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CRM_спр</a:t>
            </a:r>
            <a:r>
              <a:rPr lang="ru-RU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'[Город],"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СуммаПродаж</a:t>
            </a:r>
            <a:r>
              <a:rPr lang="ru-RU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",SUM('Заказы'[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СуммаЗаказа</a:t>
            </a:r>
            <a:r>
              <a:rPr lang="ru-RU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])),[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СуммаПродаж</a:t>
            </a:r>
            <a:r>
              <a:rPr lang="ru-RU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],DESC),[Город] &amp; " = " &amp; [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СуммаПродаж</a:t>
            </a:r>
            <a:r>
              <a:rPr lang="ru-RU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], ", ",[</a:t>
            </a:r>
            <a:r>
              <a:rPr lang="ru-RU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СуммаПродаж</a:t>
            </a:r>
            <a:r>
              <a:rPr lang="ru-RU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],DESC)</a:t>
            </a:r>
            <a:endParaRPr lang="ru-RU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  <a:highlight>
                <a:srgbClr val="C0C0C0"/>
              </a:highlight>
              <a:latin typeface="Calibri"/>
              <a:ea typeface="Calibri"/>
              <a:cs typeface="Calibri"/>
            </a:endParaRPr>
          </a:p>
          <a:p>
            <a:endParaRPr lang="ru-RU" sz="1100" dirty="0">
              <a:solidFill>
                <a:srgbClr val="000000"/>
              </a:solidFill>
              <a:highlight>
                <a:srgbClr val="C0C0C0"/>
              </a:highlight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B475A-B44B-47CD-B225-F9C16659FD74}"/>
              </a:ext>
            </a:extLst>
          </p:cNvPr>
          <p:cNvSpPr txBox="1"/>
          <p:nvPr/>
        </p:nvSpPr>
        <p:spPr>
          <a:xfrm>
            <a:off x="185350" y="437719"/>
            <a:ext cx="92487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dirty="0"/>
              <a:t>2 мера - Топ 3 города с наилучшими финансовыми показателями.</a:t>
            </a:r>
          </a:p>
        </p:txBody>
      </p:sp>
      <p:pic>
        <p:nvPicPr>
          <p:cNvPr id="2" name="Рисунок 1" descr="Изображение выглядит как текст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CEB1E5-0465-A7BD-91E5-F5B55F91C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505" y="2475985"/>
            <a:ext cx="4346746" cy="264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5ED1F-C976-48C2-90D3-476346049FAD}"/>
              </a:ext>
            </a:extLst>
          </p:cNvPr>
          <p:cNvSpPr txBox="1"/>
          <p:nvPr/>
        </p:nvSpPr>
        <p:spPr>
          <a:xfrm>
            <a:off x="752088" y="1238595"/>
            <a:ext cx="5165921" cy="12772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sz="2400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СуммаПродаж</a:t>
            </a:r>
            <a:r>
              <a:rPr lang="ru-RU" sz="2400" dirty="0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 = SUM('Заказы'[</a:t>
            </a:r>
            <a:r>
              <a:rPr lang="ru-RU" sz="2400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СуммаЗаказа</a:t>
            </a:r>
            <a:r>
              <a:rPr lang="ru-RU" sz="2400" dirty="0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])</a:t>
            </a:r>
            <a:endParaRPr lang="ru-RU" sz="2400">
              <a:solidFill>
                <a:schemeClr val="bg1"/>
              </a:solidFill>
              <a:latin typeface="Consolas"/>
            </a:endParaRPr>
          </a:p>
          <a:p>
            <a:endParaRPr lang="ru-RU" dirty="0">
              <a:solidFill>
                <a:schemeClr val="bg1"/>
              </a:solidFill>
              <a:highlight>
                <a:srgbClr val="C0C0C0"/>
              </a:highlight>
              <a:latin typeface="Consolas"/>
              <a:ea typeface="Calibri"/>
              <a:cs typeface="Calibri"/>
            </a:endParaRPr>
          </a:p>
          <a:p>
            <a:endParaRPr lang="ru-RU" sz="1100" dirty="0">
              <a:solidFill>
                <a:srgbClr val="000000"/>
              </a:solidFill>
              <a:highlight>
                <a:srgbClr val="C0C0C0"/>
              </a:highlight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B475A-B44B-47CD-B225-F9C16659FD74}"/>
              </a:ext>
            </a:extLst>
          </p:cNvPr>
          <p:cNvSpPr txBox="1"/>
          <p:nvPr/>
        </p:nvSpPr>
        <p:spPr>
          <a:xfrm>
            <a:off x="3737918" y="149395"/>
            <a:ext cx="92487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dirty="0"/>
              <a:t>3 мера - сумма продаж.</a:t>
            </a:r>
          </a:p>
        </p:txBody>
      </p:sp>
      <p:pic>
        <p:nvPicPr>
          <p:cNvPr id="5" name="Рисунок 4" descr="Изображение выглядит как текст, снимок экрана, Шрифт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C8A8DF-88CD-E87C-2A33-7F040CA33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550" y="807308"/>
            <a:ext cx="2943225" cy="213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01E4F4-768B-16E4-0B82-6D486C481BAC}"/>
              </a:ext>
            </a:extLst>
          </p:cNvPr>
          <p:cNvSpPr txBox="1"/>
          <p:nvPr/>
        </p:nvSpPr>
        <p:spPr>
          <a:xfrm>
            <a:off x="3473315" y="3604396"/>
            <a:ext cx="48839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4 мера - продажи управляющих.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980D6-1CF8-7621-A4D6-19814CB457EC}"/>
              </a:ext>
            </a:extLst>
          </p:cNvPr>
          <p:cNvSpPr txBox="1"/>
          <p:nvPr/>
        </p:nvSpPr>
        <p:spPr>
          <a:xfrm>
            <a:off x="1317967" y="4468737"/>
            <a:ext cx="4773325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</a:rPr>
              <a:t>ПродажиУпр</a:t>
            </a:r>
            <a:r>
              <a:rPr lang="ru-RU" sz="2800" dirty="0">
                <a:solidFill>
                  <a:schemeClr val="bg1"/>
                </a:solidFill>
                <a:highlight>
                  <a:srgbClr val="C0C0C0"/>
                </a:highlight>
                <a:latin typeface="Consolas"/>
              </a:rPr>
              <a:t> = CALCULATE(SUM('Заказы'[</a:t>
            </a:r>
            <a:r>
              <a:rPr lang="ru-RU" sz="2800" dirty="0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</a:rPr>
              <a:t>СуммаЗаказа</a:t>
            </a:r>
            <a:r>
              <a:rPr lang="ru-RU" sz="2800" dirty="0">
                <a:solidFill>
                  <a:schemeClr val="bg1"/>
                </a:solidFill>
                <a:highlight>
                  <a:srgbClr val="C0C0C0"/>
                </a:highlight>
                <a:latin typeface="Consolas"/>
              </a:rPr>
              <a:t>]),'Звонки')</a:t>
            </a:r>
            <a:endParaRPr lang="ru-RU" sz="28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l"/>
            <a:endParaRPr lang="ru-RU" dirty="0"/>
          </a:p>
        </p:txBody>
      </p:sp>
      <p:pic>
        <p:nvPicPr>
          <p:cNvPr id="8" name="Рисунок 7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BAEDDF-C8C1-CD76-3288-BE85AD96C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412" y="4468255"/>
            <a:ext cx="330517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1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CCB2-A2B4-16CD-F466-39F70F078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6FBBF8A-329C-1D3D-69FF-2BACB0DCA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622" y="1560613"/>
            <a:ext cx="9133703" cy="49415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7DDE0F-54D2-9415-BCDC-0F45E7312BC6}"/>
              </a:ext>
            </a:extLst>
          </p:cNvPr>
          <p:cNvSpPr txBox="1"/>
          <p:nvPr/>
        </p:nvSpPr>
        <p:spPr>
          <a:xfrm>
            <a:off x="4461079" y="1199992"/>
            <a:ext cx="57256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Фильтрация значений по месяцам</a:t>
            </a:r>
          </a:p>
        </p:txBody>
      </p:sp>
    </p:spTree>
    <p:extLst>
      <p:ext uri="{BB962C8B-B14F-4D97-AF65-F5344CB8AC3E}">
        <p14:creationId xmlns:p14="http://schemas.microsoft.com/office/powerpoint/2010/main" val="3737609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FE566-7DBD-D44A-A278-2F35CF43F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D48B258-57E6-BBE3-BA8E-5BCA56C083E7}"/>
              </a:ext>
            </a:extLst>
          </p:cNvPr>
          <p:cNvSpPr txBox="1"/>
          <p:nvPr/>
        </p:nvSpPr>
        <p:spPr>
          <a:xfrm>
            <a:off x="3126045" y="29939"/>
            <a:ext cx="57256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Фильтрация значений по доли управляющих</a:t>
            </a:r>
          </a:p>
        </p:txBody>
      </p:sp>
      <p:pic>
        <p:nvPicPr>
          <p:cNvPr id="3" name="Рисунок 2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7DB1BA-862D-9700-745D-A5CAA1229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61" y="653143"/>
            <a:ext cx="10127376" cy="595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6655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{64FCBA9B-C27E-41BD-ABD2-CD4F72158006}tf02900722</Template>
  <TotalTime>70</TotalTime>
  <Words>231</Words>
  <Application>Microsoft Office PowerPoint</Application>
  <PresentationFormat>Широкоэкранный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Calibri</vt:lpstr>
      <vt:lpstr>Century Gothic</vt:lpstr>
      <vt:lpstr>Consolas</vt:lpstr>
      <vt:lpstr>Wingdings 3</vt:lpstr>
      <vt:lpstr>Ion</vt:lpstr>
      <vt:lpstr>Итоговая работа</vt:lpstr>
      <vt:lpstr>Описание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Итоговая работа</dc:title>
  <dc:creator>ekaterina_chuvakina@mail.ru</dc:creator>
  <cp:lastModifiedBy>Илья Сергеевич</cp:lastModifiedBy>
  <cp:revision>140</cp:revision>
  <dcterms:created xsi:type="dcterms:W3CDTF">2022-06-15T19:28:22Z</dcterms:created>
  <dcterms:modified xsi:type="dcterms:W3CDTF">2025-12-17T18:27:33Z</dcterms:modified>
</cp:coreProperties>
</file>